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6" r:id="rId4"/>
    <p:sldId id="257" r:id="rId5"/>
    <p:sldId id="258" r:id="rId6"/>
    <p:sldId id="259" r:id="rId7"/>
    <p:sldId id="260" r:id="rId8"/>
    <p:sldId id="261"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D6CE36-BF9B-BB01-9EAB-0CBBF2812EB2}" v="275" dt="2024-05-22T19:37:26.287"/>
    <p1510:client id="{B49DDBF6-9904-151A-D1AF-AAB39FA8210A}" v="19" dt="2024-05-23T07:24:18.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972588-F600-4E08-961A-37A72D07ABA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7D8ECA7-8C89-4A8C-A0D8-836BBE1A276C}">
      <dgm:prSet/>
      <dgm:spPr/>
      <dgm:t>
        <a:bodyPr/>
        <a:lstStyle/>
        <a:p>
          <a:pPr>
            <a:lnSpc>
              <a:spcPct val="100000"/>
            </a:lnSpc>
          </a:pPr>
          <a:r>
            <a:rPr lang="en-US"/>
            <a:t>Microsoft created Power BI, a set of business analytics tools that let users see and talk about what they've learned from their company's data. It includes a number of tools and features that make it easier to turn data from different sources into business intelligence reports and live screens. </a:t>
          </a:r>
        </a:p>
      </dgm:t>
    </dgm:pt>
    <dgm:pt modelId="{5B9B6CA7-E3BD-4625-A65D-AC0C329E20C2}" type="parTrans" cxnId="{D1D765CC-0A3B-4154-8742-95B62AB53A2D}">
      <dgm:prSet/>
      <dgm:spPr/>
      <dgm:t>
        <a:bodyPr/>
        <a:lstStyle/>
        <a:p>
          <a:endParaRPr lang="en-US"/>
        </a:p>
      </dgm:t>
    </dgm:pt>
    <dgm:pt modelId="{5474C2E2-5DA0-4EF3-A953-7C83E2D66AAA}" type="sibTrans" cxnId="{D1D765CC-0A3B-4154-8742-95B62AB53A2D}">
      <dgm:prSet/>
      <dgm:spPr/>
      <dgm:t>
        <a:bodyPr/>
        <a:lstStyle/>
        <a:p>
          <a:endParaRPr lang="en-US"/>
        </a:p>
      </dgm:t>
    </dgm:pt>
    <dgm:pt modelId="{F9567EE1-D5C3-4FCB-80EA-D7C20470BF90}">
      <dgm:prSet/>
      <dgm:spPr/>
      <dgm:t>
        <a:bodyPr/>
        <a:lstStyle/>
        <a:p>
          <a:pPr>
            <a:lnSpc>
              <a:spcPct val="100000"/>
            </a:lnSpc>
          </a:pPr>
          <a:r>
            <a:rPr lang="en-US"/>
            <a:t>Power BI has several parts, such as Power BI Desktop, a desktop app for modeling data and making reports; Power BI Service, a cloud-based service for sharing, working together on, and publishing dashboards and reports; and Power BI Mobile Apps, which let users access and interact with their data while they're on the go. </a:t>
          </a:r>
        </a:p>
      </dgm:t>
    </dgm:pt>
    <dgm:pt modelId="{F27069AE-1010-47EA-9710-C5C4BBD74C49}" type="parTrans" cxnId="{4975D916-7BBB-45FC-BCFE-84B095F25BBE}">
      <dgm:prSet/>
      <dgm:spPr/>
      <dgm:t>
        <a:bodyPr/>
        <a:lstStyle/>
        <a:p>
          <a:endParaRPr lang="en-US"/>
        </a:p>
      </dgm:t>
    </dgm:pt>
    <dgm:pt modelId="{2BEC1F4D-D982-49B3-BB17-11B4E531E7B5}" type="sibTrans" cxnId="{4975D916-7BBB-45FC-BCFE-84B095F25BBE}">
      <dgm:prSet/>
      <dgm:spPr/>
      <dgm:t>
        <a:bodyPr/>
        <a:lstStyle/>
        <a:p>
          <a:endParaRPr lang="en-US"/>
        </a:p>
      </dgm:t>
    </dgm:pt>
    <dgm:pt modelId="{867EE72A-4DEA-4684-A86F-7CAF71D94530}">
      <dgm:prSet/>
      <dgm:spPr/>
      <dgm:t>
        <a:bodyPr/>
        <a:lstStyle/>
        <a:p>
          <a:pPr>
            <a:lnSpc>
              <a:spcPct val="100000"/>
            </a:lnSpc>
          </a:pPr>
          <a:r>
            <a:rPr lang="en-US"/>
            <a:t>The platform has an easy-to-use interface and works with many different types of data sources. This lets users connect, change, and see data to get useful insights. Additionally, Power BI lets you make live maps, generate reports, and use insights generated by AI. </a:t>
          </a:r>
        </a:p>
      </dgm:t>
    </dgm:pt>
    <dgm:pt modelId="{704EADC2-CE78-404B-B20B-D2E406194EB0}" type="parTrans" cxnId="{5AD858C6-F73C-48D9-9B80-641E59084A30}">
      <dgm:prSet/>
      <dgm:spPr/>
      <dgm:t>
        <a:bodyPr/>
        <a:lstStyle/>
        <a:p>
          <a:endParaRPr lang="en-US"/>
        </a:p>
      </dgm:t>
    </dgm:pt>
    <dgm:pt modelId="{5EA9B0CE-E491-4E63-8E1C-3A690CD10D4B}" type="sibTrans" cxnId="{5AD858C6-F73C-48D9-9B80-641E59084A30}">
      <dgm:prSet/>
      <dgm:spPr/>
      <dgm:t>
        <a:bodyPr/>
        <a:lstStyle/>
        <a:p>
          <a:endParaRPr lang="en-US"/>
        </a:p>
      </dgm:t>
    </dgm:pt>
    <dgm:pt modelId="{1B98205A-66B4-4955-98FD-8D5FEEF810C7}" type="pres">
      <dgm:prSet presAssocID="{17972588-F600-4E08-961A-37A72D07ABA0}" presName="root" presStyleCnt="0">
        <dgm:presLayoutVars>
          <dgm:dir/>
          <dgm:resizeHandles val="exact"/>
        </dgm:presLayoutVars>
      </dgm:prSet>
      <dgm:spPr/>
    </dgm:pt>
    <dgm:pt modelId="{F98F39C2-7889-4A3C-A3B3-6E0CA5CD6E88}" type="pres">
      <dgm:prSet presAssocID="{97D8ECA7-8C89-4A8C-A0D8-836BBE1A276C}" presName="compNode" presStyleCnt="0"/>
      <dgm:spPr/>
    </dgm:pt>
    <dgm:pt modelId="{31522A2E-797A-46D1-AB23-BB95DA2014AA}" type="pres">
      <dgm:prSet presAssocID="{97D8ECA7-8C89-4A8C-A0D8-836BBE1A276C}" presName="bgRect" presStyleLbl="bgShp" presStyleIdx="0" presStyleCnt="3"/>
      <dgm:spPr/>
    </dgm:pt>
    <dgm:pt modelId="{3693C54C-3EBD-4727-B6F7-2059DF19DBCD}" type="pres">
      <dgm:prSet presAssocID="{97D8ECA7-8C89-4A8C-A0D8-836BBE1A27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1D1EC484-64F4-4C28-80E5-1248612E6DD4}" type="pres">
      <dgm:prSet presAssocID="{97D8ECA7-8C89-4A8C-A0D8-836BBE1A276C}" presName="spaceRect" presStyleCnt="0"/>
      <dgm:spPr/>
    </dgm:pt>
    <dgm:pt modelId="{1302BCD6-C3D8-478C-B01B-EFAF72A55DBA}" type="pres">
      <dgm:prSet presAssocID="{97D8ECA7-8C89-4A8C-A0D8-836BBE1A276C}" presName="parTx" presStyleLbl="revTx" presStyleIdx="0" presStyleCnt="3">
        <dgm:presLayoutVars>
          <dgm:chMax val="0"/>
          <dgm:chPref val="0"/>
        </dgm:presLayoutVars>
      </dgm:prSet>
      <dgm:spPr/>
    </dgm:pt>
    <dgm:pt modelId="{C33A620D-B752-4899-8182-3A9B610BBCB9}" type="pres">
      <dgm:prSet presAssocID="{5474C2E2-5DA0-4EF3-A953-7C83E2D66AAA}" presName="sibTrans" presStyleCnt="0"/>
      <dgm:spPr/>
    </dgm:pt>
    <dgm:pt modelId="{B2D0E645-D037-43B0-A8B9-E497DD010D77}" type="pres">
      <dgm:prSet presAssocID="{F9567EE1-D5C3-4FCB-80EA-D7C20470BF90}" presName="compNode" presStyleCnt="0"/>
      <dgm:spPr/>
    </dgm:pt>
    <dgm:pt modelId="{9CDFA15B-A974-429D-8813-F4D8F0B42B95}" type="pres">
      <dgm:prSet presAssocID="{F9567EE1-D5C3-4FCB-80EA-D7C20470BF90}" presName="bgRect" presStyleLbl="bgShp" presStyleIdx="1" presStyleCnt="3"/>
      <dgm:spPr/>
    </dgm:pt>
    <dgm:pt modelId="{493271E5-06D5-41C6-A090-F7AACCED70B2}" type="pres">
      <dgm:prSet presAssocID="{F9567EE1-D5C3-4FCB-80EA-D7C20470BF9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905D95A2-3434-4972-A841-15DF6F80DFBE}" type="pres">
      <dgm:prSet presAssocID="{F9567EE1-D5C3-4FCB-80EA-D7C20470BF90}" presName="spaceRect" presStyleCnt="0"/>
      <dgm:spPr/>
    </dgm:pt>
    <dgm:pt modelId="{6E570EF1-3A64-4125-83C7-96320D21D976}" type="pres">
      <dgm:prSet presAssocID="{F9567EE1-D5C3-4FCB-80EA-D7C20470BF90}" presName="parTx" presStyleLbl="revTx" presStyleIdx="1" presStyleCnt="3">
        <dgm:presLayoutVars>
          <dgm:chMax val="0"/>
          <dgm:chPref val="0"/>
        </dgm:presLayoutVars>
      </dgm:prSet>
      <dgm:spPr/>
    </dgm:pt>
    <dgm:pt modelId="{8529BBD1-2CBD-47E1-9923-3FB220C22054}" type="pres">
      <dgm:prSet presAssocID="{2BEC1F4D-D982-49B3-BB17-11B4E531E7B5}" presName="sibTrans" presStyleCnt="0"/>
      <dgm:spPr/>
    </dgm:pt>
    <dgm:pt modelId="{F3D04782-8B98-4CA1-94ED-E01E027DDDFF}" type="pres">
      <dgm:prSet presAssocID="{867EE72A-4DEA-4684-A86F-7CAF71D94530}" presName="compNode" presStyleCnt="0"/>
      <dgm:spPr/>
    </dgm:pt>
    <dgm:pt modelId="{02D9497F-4C8F-4000-BC53-2D574CF9C2D2}" type="pres">
      <dgm:prSet presAssocID="{867EE72A-4DEA-4684-A86F-7CAF71D94530}" presName="bgRect" presStyleLbl="bgShp" presStyleIdx="2" presStyleCnt="3"/>
      <dgm:spPr/>
    </dgm:pt>
    <dgm:pt modelId="{49659051-BC44-4866-B018-55A37F2CB643}" type="pres">
      <dgm:prSet presAssocID="{867EE72A-4DEA-4684-A86F-7CAF71D9453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D7DABF05-4297-40C4-8B9E-249FDFAE84C0}" type="pres">
      <dgm:prSet presAssocID="{867EE72A-4DEA-4684-A86F-7CAF71D94530}" presName="spaceRect" presStyleCnt="0"/>
      <dgm:spPr/>
    </dgm:pt>
    <dgm:pt modelId="{57427118-C780-444F-A76E-73C4BFF266AF}" type="pres">
      <dgm:prSet presAssocID="{867EE72A-4DEA-4684-A86F-7CAF71D94530}" presName="parTx" presStyleLbl="revTx" presStyleIdx="2" presStyleCnt="3">
        <dgm:presLayoutVars>
          <dgm:chMax val="0"/>
          <dgm:chPref val="0"/>
        </dgm:presLayoutVars>
      </dgm:prSet>
      <dgm:spPr/>
    </dgm:pt>
  </dgm:ptLst>
  <dgm:cxnLst>
    <dgm:cxn modelId="{1D0D6400-62E3-447B-823C-EF2D13709DD9}" type="presOf" srcId="{17972588-F600-4E08-961A-37A72D07ABA0}" destId="{1B98205A-66B4-4955-98FD-8D5FEEF810C7}" srcOrd="0" destOrd="0" presId="urn:microsoft.com/office/officeart/2018/2/layout/IconVerticalSolidList"/>
    <dgm:cxn modelId="{72F2550B-7009-404C-AC24-A9C5AFAC3FB8}" type="presOf" srcId="{97D8ECA7-8C89-4A8C-A0D8-836BBE1A276C}" destId="{1302BCD6-C3D8-478C-B01B-EFAF72A55DBA}" srcOrd="0" destOrd="0" presId="urn:microsoft.com/office/officeart/2018/2/layout/IconVerticalSolidList"/>
    <dgm:cxn modelId="{4975D916-7BBB-45FC-BCFE-84B095F25BBE}" srcId="{17972588-F600-4E08-961A-37A72D07ABA0}" destId="{F9567EE1-D5C3-4FCB-80EA-D7C20470BF90}" srcOrd="1" destOrd="0" parTransId="{F27069AE-1010-47EA-9710-C5C4BBD74C49}" sibTransId="{2BEC1F4D-D982-49B3-BB17-11B4E531E7B5}"/>
    <dgm:cxn modelId="{743FBF72-CD49-4180-8766-43FC336004B1}" type="presOf" srcId="{F9567EE1-D5C3-4FCB-80EA-D7C20470BF90}" destId="{6E570EF1-3A64-4125-83C7-96320D21D976}" srcOrd="0" destOrd="0" presId="urn:microsoft.com/office/officeart/2018/2/layout/IconVerticalSolidList"/>
    <dgm:cxn modelId="{5AD858C6-F73C-48D9-9B80-641E59084A30}" srcId="{17972588-F600-4E08-961A-37A72D07ABA0}" destId="{867EE72A-4DEA-4684-A86F-7CAF71D94530}" srcOrd="2" destOrd="0" parTransId="{704EADC2-CE78-404B-B20B-D2E406194EB0}" sibTransId="{5EA9B0CE-E491-4E63-8E1C-3A690CD10D4B}"/>
    <dgm:cxn modelId="{D1D765CC-0A3B-4154-8742-95B62AB53A2D}" srcId="{17972588-F600-4E08-961A-37A72D07ABA0}" destId="{97D8ECA7-8C89-4A8C-A0D8-836BBE1A276C}" srcOrd="0" destOrd="0" parTransId="{5B9B6CA7-E3BD-4625-A65D-AC0C329E20C2}" sibTransId="{5474C2E2-5DA0-4EF3-A953-7C83E2D66AAA}"/>
    <dgm:cxn modelId="{58275FDF-6C93-436D-9A1A-36F03ADE7CAF}" type="presOf" srcId="{867EE72A-4DEA-4684-A86F-7CAF71D94530}" destId="{57427118-C780-444F-A76E-73C4BFF266AF}" srcOrd="0" destOrd="0" presId="urn:microsoft.com/office/officeart/2018/2/layout/IconVerticalSolidList"/>
    <dgm:cxn modelId="{336B3806-EE77-4031-83F4-68AFE8D94BD7}" type="presParOf" srcId="{1B98205A-66B4-4955-98FD-8D5FEEF810C7}" destId="{F98F39C2-7889-4A3C-A3B3-6E0CA5CD6E88}" srcOrd="0" destOrd="0" presId="urn:microsoft.com/office/officeart/2018/2/layout/IconVerticalSolidList"/>
    <dgm:cxn modelId="{287C744C-0D8E-4320-883A-81E04489C3F5}" type="presParOf" srcId="{F98F39C2-7889-4A3C-A3B3-6E0CA5CD6E88}" destId="{31522A2E-797A-46D1-AB23-BB95DA2014AA}" srcOrd="0" destOrd="0" presId="urn:microsoft.com/office/officeart/2018/2/layout/IconVerticalSolidList"/>
    <dgm:cxn modelId="{36D086C8-16CE-482C-9AE0-773B888CAED3}" type="presParOf" srcId="{F98F39C2-7889-4A3C-A3B3-6E0CA5CD6E88}" destId="{3693C54C-3EBD-4727-B6F7-2059DF19DBCD}" srcOrd="1" destOrd="0" presId="urn:microsoft.com/office/officeart/2018/2/layout/IconVerticalSolidList"/>
    <dgm:cxn modelId="{DA474572-3962-4559-900F-F14079990AE4}" type="presParOf" srcId="{F98F39C2-7889-4A3C-A3B3-6E0CA5CD6E88}" destId="{1D1EC484-64F4-4C28-80E5-1248612E6DD4}" srcOrd="2" destOrd="0" presId="urn:microsoft.com/office/officeart/2018/2/layout/IconVerticalSolidList"/>
    <dgm:cxn modelId="{E0DAD748-22F6-4243-BBA8-45D5DEDC5E98}" type="presParOf" srcId="{F98F39C2-7889-4A3C-A3B3-6E0CA5CD6E88}" destId="{1302BCD6-C3D8-478C-B01B-EFAF72A55DBA}" srcOrd="3" destOrd="0" presId="urn:microsoft.com/office/officeart/2018/2/layout/IconVerticalSolidList"/>
    <dgm:cxn modelId="{795786B0-5752-4A83-96B6-E13C114267A0}" type="presParOf" srcId="{1B98205A-66B4-4955-98FD-8D5FEEF810C7}" destId="{C33A620D-B752-4899-8182-3A9B610BBCB9}" srcOrd="1" destOrd="0" presId="urn:microsoft.com/office/officeart/2018/2/layout/IconVerticalSolidList"/>
    <dgm:cxn modelId="{48E301A4-1EFE-4DE9-AB86-6E19895B5796}" type="presParOf" srcId="{1B98205A-66B4-4955-98FD-8D5FEEF810C7}" destId="{B2D0E645-D037-43B0-A8B9-E497DD010D77}" srcOrd="2" destOrd="0" presId="urn:microsoft.com/office/officeart/2018/2/layout/IconVerticalSolidList"/>
    <dgm:cxn modelId="{1B7F3029-B75D-4F2E-935A-9022BF4671D3}" type="presParOf" srcId="{B2D0E645-D037-43B0-A8B9-E497DD010D77}" destId="{9CDFA15B-A974-429D-8813-F4D8F0B42B95}" srcOrd="0" destOrd="0" presId="urn:microsoft.com/office/officeart/2018/2/layout/IconVerticalSolidList"/>
    <dgm:cxn modelId="{09ED56D7-CC75-4A82-9972-F3EC3DC0DF67}" type="presParOf" srcId="{B2D0E645-D037-43B0-A8B9-E497DD010D77}" destId="{493271E5-06D5-41C6-A090-F7AACCED70B2}" srcOrd="1" destOrd="0" presId="urn:microsoft.com/office/officeart/2018/2/layout/IconVerticalSolidList"/>
    <dgm:cxn modelId="{F9CB83A9-DBF7-4632-ACD7-4EEB71B3800C}" type="presParOf" srcId="{B2D0E645-D037-43B0-A8B9-E497DD010D77}" destId="{905D95A2-3434-4972-A841-15DF6F80DFBE}" srcOrd="2" destOrd="0" presId="urn:microsoft.com/office/officeart/2018/2/layout/IconVerticalSolidList"/>
    <dgm:cxn modelId="{7C0BE1FD-A044-47A0-BF88-A936818BFE6C}" type="presParOf" srcId="{B2D0E645-D037-43B0-A8B9-E497DD010D77}" destId="{6E570EF1-3A64-4125-83C7-96320D21D976}" srcOrd="3" destOrd="0" presId="urn:microsoft.com/office/officeart/2018/2/layout/IconVerticalSolidList"/>
    <dgm:cxn modelId="{B6C04A7F-40CA-42B3-AB1E-D2CFAEE4A80B}" type="presParOf" srcId="{1B98205A-66B4-4955-98FD-8D5FEEF810C7}" destId="{8529BBD1-2CBD-47E1-9923-3FB220C22054}" srcOrd="3" destOrd="0" presId="urn:microsoft.com/office/officeart/2018/2/layout/IconVerticalSolidList"/>
    <dgm:cxn modelId="{E45A1592-2744-42F7-B71A-1E7055FD18E5}" type="presParOf" srcId="{1B98205A-66B4-4955-98FD-8D5FEEF810C7}" destId="{F3D04782-8B98-4CA1-94ED-E01E027DDDFF}" srcOrd="4" destOrd="0" presId="urn:microsoft.com/office/officeart/2018/2/layout/IconVerticalSolidList"/>
    <dgm:cxn modelId="{D6DAA2BA-BAB4-4B24-9AC9-9950EE9EE236}" type="presParOf" srcId="{F3D04782-8B98-4CA1-94ED-E01E027DDDFF}" destId="{02D9497F-4C8F-4000-BC53-2D574CF9C2D2}" srcOrd="0" destOrd="0" presId="urn:microsoft.com/office/officeart/2018/2/layout/IconVerticalSolidList"/>
    <dgm:cxn modelId="{295F8658-5524-423D-AD04-F1F95F022B58}" type="presParOf" srcId="{F3D04782-8B98-4CA1-94ED-E01E027DDDFF}" destId="{49659051-BC44-4866-B018-55A37F2CB643}" srcOrd="1" destOrd="0" presId="urn:microsoft.com/office/officeart/2018/2/layout/IconVerticalSolidList"/>
    <dgm:cxn modelId="{35446B37-738D-4CF2-A7F7-E5C2328D4852}" type="presParOf" srcId="{F3D04782-8B98-4CA1-94ED-E01E027DDDFF}" destId="{D7DABF05-4297-40C4-8B9E-249FDFAE84C0}" srcOrd="2" destOrd="0" presId="urn:microsoft.com/office/officeart/2018/2/layout/IconVerticalSolidList"/>
    <dgm:cxn modelId="{0D605A3C-BC40-4EEB-9B2F-7DB08141754B}" type="presParOf" srcId="{F3D04782-8B98-4CA1-94ED-E01E027DDDFF}" destId="{57427118-C780-444F-A76E-73C4BFF266A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22A2E-797A-46D1-AB23-BB95DA2014AA}">
      <dsp:nvSpPr>
        <dsp:cNvPr id="0" name=""/>
        <dsp:cNvSpPr/>
      </dsp:nvSpPr>
      <dsp:spPr>
        <a:xfrm>
          <a:off x="0" y="675"/>
          <a:ext cx="6900512" cy="1581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93C54C-3EBD-4727-B6F7-2059DF19DBCD}">
      <dsp:nvSpPr>
        <dsp:cNvPr id="0" name=""/>
        <dsp:cNvSpPr/>
      </dsp:nvSpPr>
      <dsp:spPr>
        <a:xfrm>
          <a:off x="478363" y="356483"/>
          <a:ext cx="869752" cy="8697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02BCD6-C3D8-478C-B01B-EFAF72A55DBA}">
      <dsp:nvSpPr>
        <dsp:cNvPr id="0" name=""/>
        <dsp:cNvSpPr/>
      </dsp:nvSpPr>
      <dsp:spPr>
        <a:xfrm>
          <a:off x="1826480" y="675"/>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100000"/>
            </a:lnSpc>
            <a:spcBef>
              <a:spcPct val="0"/>
            </a:spcBef>
            <a:spcAft>
              <a:spcPct val="35000"/>
            </a:spcAft>
            <a:buNone/>
          </a:pPr>
          <a:r>
            <a:rPr lang="en-US" sz="1900" kern="1200"/>
            <a:t>Microsoft created Power BI, a set of business analytics tools that let users see and talk about what they've learned from their company's data. It includes a number of tools and features that make it easier to turn data from different sources into business intelligence reports and live screens. </a:t>
          </a:r>
        </a:p>
      </dsp:txBody>
      <dsp:txXfrm>
        <a:off x="1826480" y="675"/>
        <a:ext cx="5074031" cy="1581368"/>
      </dsp:txXfrm>
    </dsp:sp>
    <dsp:sp modelId="{9CDFA15B-A974-429D-8813-F4D8F0B42B95}">
      <dsp:nvSpPr>
        <dsp:cNvPr id="0" name=""/>
        <dsp:cNvSpPr/>
      </dsp:nvSpPr>
      <dsp:spPr>
        <a:xfrm>
          <a:off x="0" y="1977386"/>
          <a:ext cx="6900512" cy="1581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271E5-06D5-41C6-A090-F7AACCED70B2}">
      <dsp:nvSpPr>
        <dsp:cNvPr id="0" name=""/>
        <dsp:cNvSpPr/>
      </dsp:nvSpPr>
      <dsp:spPr>
        <a:xfrm>
          <a:off x="478363" y="2333194"/>
          <a:ext cx="869752" cy="8697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570EF1-3A64-4125-83C7-96320D21D976}">
      <dsp:nvSpPr>
        <dsp:cNvPr id="0" name=""/>
        <dsp:cNvSpPr/>
      </dsp:nvSpPr>
      <dsp:spPr>
        <a:xfrm>
          <a:off x="1826480" y="197738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100000"/>
            </a:lnSpc>
            <a:spcBef>
              <a:spcPct val="0"/>
            </a:spcBef>
            <a:spcAft>
              <a:spcPct val="35000"/>
            </a:spcAft>
            <a:buNone/>
          </a:pPr>
          <a:r>
            <a:rPr lang="en-US" sz="1900" kern="1200"/>
            <a:t>Power BI has several parts, such as Power BI Desktop, a desktop app for modeling data and making reports; Power BI Service, a cloud-based service for sharing, working together on, and publishing dashboards and reports; and Power BI Mobile Apps, which let users access and interact with their data while they're on the go. </a:t>
          </a:r>
        </a:p>
      </dsp:txBody>
      <dsp:txXfrm>
        <a:off x="1826480" y="1977386"/>
        <a:ext cx="5074031" cy="1581368"/>
      </dsp:txXfrm>
    </dsp:sp>
    <dsp:sp modelId="{02D9497F-4C8F-4000-BC53-2D574CF9C2D2}">
      <dsp:nvSpPr>
        <dsp:cNvPr id="0" name=""/>
        <dsp:cNvSpPr/>
      </dsp:nvSpPr>
      <dsp:spPr>
        <a:xfrm>
          <a:off x="0" y="3954096"/>
          <a:ext cx="6900512" cy="1581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59051-BC44-4866-B018-55A37F2CB643}">
      <dsp:nvSpPr>
        <dsp:cNvPr id="0" name=""/>
        <dsp:cNvSpPr/>
      </dsp:nvSpPr>
      <dsp:spPr>
        <a:xfrm>
          <a:off x="478363" y="4309904"/>
          <a:ext cx="869752" cy="8697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427118-C780-444F-A76E-73C4BFF266AF}">
      <dsp:nvSpPr>
        <dsp:cNvPr id="0" name=""/>
        <dsp:cNvSpPr/>
      </dsp:nvSpPr>
      <dsp:spPr>
        <a:xfrm>
          <a:off x="1826480" y="395409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100000"/>
            </a:lnSpc>
            <a:spcBef>
              <a:spcPct val="0"/>
            </a:spcBef>
            <a:spcAft>
              <a:spcPct val="35000"/>
            </a:spcAft>
            <a:buNone/>
          </a:pPr>
          <a:r>
            <a:rPr lang="en-US" sz="1900" kern="1200"/>
            <a:t>The platform has an easy-to-use interface and works with many different types of data sources. This lets users connect, change, and see data to get useful insights. Additionally, Power BI lets you make live maps, generate reports, and use insights generated by AI. </a:t>
          </a:r>
        </a:p>
      </dsp:txBody>
      <dsp:txXfrm>
        <a:off x="1826480" y="3954096"/>
        <a:ext cx="5074031" cy="15813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1:27:24.263"/>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10:59.45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4:26:49.181"/>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5:03:51.366"/>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8:55:59.418"/>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5/26/2024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76085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7140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5904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3854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7682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0730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54012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2468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11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186981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5/26/2024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3204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5/26/2024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5695991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13" r:id="rId6"/>
    <p:sldLayoutId id="2147483709" r:id="rId7"/>
    <p:sldLayoutId id="2147483710" r:id="rId8"/>
    <p:sldLayoutId id="2147483711" r:id="rId9"/>
    <p:sldLayoutId id="2147483712" r:id="rId10"/>
    <p:sldLayoutId id="2147483714"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BF9414DC-58C0-C3A2-2D07-0A6F4249DBCE}"/>
              </a:ext>
            </a:extLst>
          </p:cNvPr>
          <p:cNvPicPr>
            <a:picLocks noChangeAspect="1"/>
          </p:cNvPicPr>
          <p:nvPr/>
        </p:nvPicPr>
        <p:blipFill rotWithShape="1">
          <a:blip r:embed="rId2">
            <a:alphaModFix amt="50000"/>
          </a:blip>
          <a:srcRect t="22906" r="-1" b="20829"/>
          <a:stretch/>
        </p:blipFill>
        <p:spPr>
          <a:xfrm>
            <a:off x="20" y="10"/>
            <a:ext cx="12191979" cy="6857989"/>
          </a:xfrm>
          <a:prstGeom prst="rect">
            <a:avLst/>
          </a:prstGeom>
        </p:spPr>
      </p:pic>
      <p:sp>
        <p:nvSpPr>
          <p:cNvPr id="2" name="Title 1"/>
          <p:cNvSpPr>
            <a:spLocks noGrp="1"/>
          </p:cNvSpPr>
          <p:nvPr>
            <p:ph type="ctrTitle"/>
          </p:nvPr>
        </p:nvSpPr>
        <p:spPr>
          <a:xfrm>
            <a:off x="1524000" y="1122363"/>
            <a:ext cx="9144000" cy="3063240"/>
          </a:xfrm>
        </p:spPr>
        <p:txBody>
          <a:bodyPr>
            <a:normAutofit/>
          </a:bodyPr>
          <a:lstStyle/>
          <a:p>
            <a:pPr algn="ctr"/>
            <a:r>
              <a:rPr lang="en-US" dirty="0"/>
              <a:t>BRİGHT STAR RETAİL</a:t>
            </a:r>
          </a:p>
        </p:txBody>
      </p:sp>
      <p:sp>
        <p:nvSpPr>
          <p:cNvPr id="3" name="Subtitle 2"/>
          <p:cNvSpPr>
            <a:spLocks noGrp="1"/>
          </p:cNvSpPr>
          <p:nvPr>
            <p:ph type="subTitle" idx="1"/>
          </p:nvPr>
        </p:nvSpPr>
        <p:spPr>
          <a:xfrm>
            <a:off x="1524000" y="4599432"/>
            <a:ext cx="9144000" cy="1225296"/>
          </a:xfrm>
        </p:spPr>
        <p:txBody>
          <a:bodyPr vert="horz" lIns="91440" tIns="45720" rIns="91440" bIns="45720" rtlCol="0" anchor="t">
            <a:normAutofit/>
          </a:bodyPr>
          <a:lstStyle/>
          <a:p>
            <a:pPr algn="ctr">
              <a:lnSpc>
                <a:spcPct val="100000"/>
              </a:lnSpc>
            </a:pPr>
            <a:r>
              <a:rPr lang="en-US" sz="3200" b="1" dirty="0" err="1">
                <a:latin typeface="Calibri"/>
                <a:ea typeface="Calibri"/>
                <a:cs typeface="Calibri"/>
              </a:rPr>
              <a:t>Tolga</a:t>
            </a:r>
            <a:r>
              <a:rPr lang="en-US" sz="3200" b="1" dirty="0">
                <a:latin typeface="Calibri"/>
                <a:ea typeface="Calibri"/>
                <a:cs typeface="Calibri"/>
              </a:rPr>
              <a:t> KARA</a:t>
            </a:r>
          </a:p>
          <a:p>
            <a:pPr algn="ctr">
              <a:lnSpc>
                <a:spcPct val="100000"/>
              </a:lnSpc>
            </a:pPr>
            <a:r>
              <a:rPr lang="en-US" sz="3200" b="1" dirty="0">
                <a:latin typeface="Calibri"/>
                <a:ea typeface="Calibri"/>
                <a:cs typeface="Calibri"/>
              </a:rPr>
              <a:t>Dg168286</a:t>
            </a:r>
          </a:p>
        </p:txBody>
      </p:sp>
      <p:sp>
        <p:nvSpPr>
          <p:cNvPr id="33" name="Rectangle 6">
            <a:extLst>
              <a:ext uri="{FF2B5EF4-FFF2-40B4-BE49-F238E27FC236}">
                <a16:creationId xmlns:a16="http://schemas.microsoft.com/office/drawing/2014/main" id="{04D8AD8F-EF7F-481F-B99A-B85138970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902700 h 5416094"/>
              <a:gd name="connsiteX1" fmla="*/ 902700 w 10515600"/>
              <a:gd name="connsiteY1" fmla="*/ 0 h 5416094"/>
              <a:gd name="connsiteX2" fmla="*/ 1746919 w 10515600"/>
              <a:gd name="connsiteY2" fmla="*/ 0 h 5416094"/>
              <a:gd name="connsiteX3" fmla="*/ 2329833 w 10515600"/>
              <a:gd name="connsiteY3" fmla="*/ 0 h 5416094"/>
              <a:gd name="connsiteX4" fmla="*/ 2825644 w 10515600"/>
              <a:gd name="connsiteY4" fmla="*/ 0 h 5416094"/>
              <a:gd name="connsiteX5" fmla="*/ 3582762 w 10515600"/>
              <a:gd name="connsiteY5" fmla="*/ 0 h 5416094"/>
              <a:gd name="connsiteX6" fmla="*/ 4165675 w 10515600"/>
              <a:gd name="connsiteY6" fmla="*/ 0 h 5416094"/>
              <a:gd name="connsiteX7" fmla="*/ 5009894 w 10515600"/>
              <a:gd name="connsiteY7" fmla="*/ 0 h 5416094"/>
              <a:gd name="connsiteX8" fmla="*/ 5505706 w 10515600"/>
              <a:gd name="connsiteY8" fmla="*/ 0 h 5416094"/>
              <a:gd name="connsiteX9" fmla="*/ 6349925 w 10515600"/>
              <a:gd name="connsiteY9" fmla="*/ 0 h 5416094"/>
              <a:gd name="connsiteX10" fmla="*/ 6758634 w 10515600"/>
              <a:gd name="connsiteY10" fmla="*/ 0 h 5416094"/>
              <a:gd name="connsiteX11" fmla="*/ 7428650 w 10515600"/>
              <a:gd name="connsiteY11" fmla="*/ 0 h 5416094"/>
              <a:gd name="connsiteX12" fmla="*/ 8098665 w 10515600"/>
              <a:gd name="connsiteY12" fmla="*/ 0 h 5416094"/>
              <a:gd name="connsiteX13" fmla="*/ 8681579 w 10515600"/>
              <a:gd name="connsiteY13" fmla="*/ 0 h 5416094"/>
              <a:gd name="connsiteX14" fmla="*/ 9612900 w 10515600"/>
              <a:gd name="connsiteY14" fmla="*/ 0 h 5416094"/>
              <a:gd name="connsiteX15" fmla="*/ 10515600 w 10515600"/>
              <a:gd name="connsiteY15" fmla="*/ 902700 h 5416094"/>
              <a:gd name="connsiteX16" fmla="*/ 10515600 w 10515600"/>
              <a:gd name="connsiteY16" fmla="*/ 1504482 h 5416094"/>
              <a:gd name="connsiteX17" fmla="*/ 10515600 w 10515600"/>
              <a:gd name="connsiteY17" fmla="*/ 2178479 h 5416094"/>
              <a:gd name="connsiteX18" fmla="*/ 10515600 w 10515600"/>
              <a:gd name="connsiteY18" fmla="*/ 2780261 h 5416094"/>
              <a:gd name="connsiteX19" fmla="*/ 10515600 w 10515600"/>
              <a:gd name="connsiteY19" fmla="*/ 3273722 h 5416094"/>
              <a:gd name="connsiteX20" fmla="*/ 10515600 w 10515600"/>
              <a:gd name="connsiteY20" fmla="*/ 3803291 h 5416094"/>
              <a:gd name="connsiteX21" fmla="*/ 10515600 w 10515600"/>
              <a:gd name="connsiteY21" fmla="*/ 4513394 h 5416094"/>
              <a:gd name="connsiteX22" fmla="*/ 9612900 w 10515600"/>
              <a:gd name="connsiteY22" fmla="*/ 5416094 h 5416094"/>
              <a:gd name="connsiteX23" fmla="*/ 9117089 w 10515600"/>
              <a:gd name="connsiteY23" fmla="*/ 5416094 h 5416094"/>
              <a:gd name="connsiteX24" fmla="*/ 8708379 w 10515600"/>
              <a:gd name="connsiteY24" fmla="*/ 5416094 h 5416094"/>
              <a:gd name="connsiteX25" fmla="*/ 8299670 w 10515600"/>
              <a:gd name="connsiteY25" fmla="*/ 5416094 h 5416094"/>
              <a:gd name="connsiteX26" fmla="*/ 7629654 w 10515600"/>
              <a:gd name="connsiteY26" fmla="*/ 5416094 h 5416094"/>
              <a:gd name="connsiteX27" fmla="*/ 7133843 w 10515600"/>
              <a:gd name="connsiteY27" fmla="*/ 5416094 h 5416094"/>
              <a:gd name="connsiteX28" fmla="*/ 6376726 w 10515600"/>
              <a:gd name="connsiteY28" fmla="*/ 5416094 h 5416094"/>
              <a:gd name="connsiteX29" fmla="*/ 5880914 w 10515600"/>
              <a:gd name="connsiteY29" fmla="*/ 5416094 h 5416094"/>
              <a:gd name="connsiteX30" fmla="*/ 5123797 w 10515600"/>
              <a:gd name="connsiteY30" fmla="*/ 5416094 h 5416094"/>
              <a:gd name="connsiteX31" fmla="*/ 4715088 w 10515600"/>
              <a:gd name="connsiteY31" fmla="*/ 5416094 h 5416094"/>
              <a:gd name="connsiteX32" fmla="*/ 3957970 w 10515600"/>
              <a:gd name="connsiteY32" fmla="*/ 5416094 h 5416094"/>
              <a:gd name="connsiteX33" fmla="*/ 3462159 w 10515600"/>
              <a:gd name="connsiteY33" fmla="*/ 5416094 h 5416094"/>
              <a:gd name="connsiteX34" fmla="*/ 3053449 w 10515600"/>
              <a:gd name="connsiteY34" fmla="*/ 5416094 h 5416094"/>
              <a:gd name="connsiteX35" fmla="*/ 2557638 w 10515600"/>
              <a:gd name="connsiteY35" fmla="*/ 5416094 h 5416094"/>
              <a:gd name="connsiteX36" fmla="*/ 1800521 w 10515600"/>
              <a:gd name="connsiteY36" fmla="*/ 5416094 h 5416094"/>
              <a:gd name="connsiteX37" fmla="*/ 902700 w 10515600"/>
              <a:gd name="connsiteY37" fmla="*/ 5416094 h 5416094"/>
              <a:gd name="connsiteX38" fmla="*/ 0 w 10515600"/>
              <a:gd name="connsiteY38" fmla="*/ 4513394 h 5416094"/>
              <a:gd name="connsiteX39" fmla="*/ 0 w 10515600"/>
              <a:gd name="connsiteY39" fmla="*/ 3911612 h 5416094"/>
              <a:gd name="connsiteX40" fmla="*/ 0 w 10515600"/>
              <a:gd name="connsiteY40" fmla="*/ 3309829 h 5416094"/>
              <a:gd name="connsiteX41" fmla="*/ 0 w 10515600"/>
              <a:gd name="connsiteY41" fmla="*/ 2780261 h 5416094"/>
              <a:gd name="connsiteX42" fmla="*/ 0 w 10515600"/>
              <a:gd name="connsiteY42" fmla="*/ 2106265 h 5416094"/>
              <a:gd name="connsiteX43" fmla="*/ 0 w 10515600"/>
              <a:gd name="connsiteY43" fmla="*/ 1504482 h 5416094"/>
              <a:gd name="connsiteX44" fmla="*/ 0 w 10515600"/>
              <a:gd name="connsiteY44"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515600" h="5416094" extrusionOk="0">
                <a:moveTo>
                  <a:pt x="0" y="902700"/>
                </a:moveTo>
                <a:cubicBezTo>
                  <a:pt x="-57306" y="368805"/>
                  <a:pt x="305054" y="37193"/>
                  <a:pt x="902700" y="0"/>
                </a:cubicBezTo>
                <a:cubicBezTo>
                  <a:pt x="1280419" y="-35006"/>
                  <a:pt x="1407743" y="-35339"/>
                  <a:pt x="1746919" y="0"/>
                </a:cubicBezTo>
                <a:cubicBezTo>
                  <a:pt x="2086095" y="35339"/>
                  <a:pt x="2146539" y="-12333"/>
                  <a:pt x="2329833" y="0"/>
                </a:cubicBezTo>
                <a:cubicBezTo>
                  <a:pt x="2513127" y="12333"/>
                  <a:pt x="2706706" y="12952"/>
                  <a:pt x="2825644" y="0"/>
                </a:cubicBezTo>
                <a:cubicBezTo>
                  <a:pt x="2944582" y="-12952"/>
                  <a:pt x="3420817" y="-27100"/>
                  <a:pt x="3582762" y="0"/>
                </a:cubicBezTo>
                <a:cubicBezTo>
                  <a:pt x="3744707" y="27100"/>
                  <a:pt x="4023584" y="-9167"/>
                  <a:pt x="4165675" y="0"/>
                </a:cubicBezTo>
                <a:cubicBezTo>
                  <a:pt x="4307766" y="9167"/>
                  <a:pt x="4770188" y="27031"/>
                  <a:pt x="5009894" y="0"/>
                </a:cubicBezTo>
                <a:cubicBezTo>
                  <a:pt x="5249600" y="-27031"/>
                  <a:pt x="5349881" y="-194"/>
                  <a:pt x="5505706" y="0"/>
                </a:cubicBezTo>
                <a:cubicBezTo>
                  <a:pt x="5661531" y="194"/>
                  <a:pt x="6129254" y="-29363"/>
                  <a:pt x="6349925" y="0"/>
                </a:cubicBezTo>
                <a:cubicBezTo>
                  <a:pt x="6570596" y="29363"/>
                  <a:pt x="6581199" y="-14617"/>
                  <a:pt x="6758634" y="0"/>
                </a:cubicBezTo>
                <a:cubicBezTo>
                  <a:pt x="6936069" y="14617"/>
                  <a:pt x="7246491" y="25675"/>
                  <a:pt x="7428650" y="0"/>
                </a:cubicBezTo>
                <a:cubicBezTo>
                  <a:pt x="7610809" y="-25675"/>
                  <a:pt x="7825190" y="-17078"/>
                  <a:pt x="8098665" y="0"/>
                </a:cubicBezTo>
                <a:cubicBezTo>
                  <a:pt x="8372141" y="17078"/>
                  <a:pt x="8559625" y="-21568"/>
                  <a:pt x="8681579" y="0"/>
                </a:cubicBezTo>
                <a:cubicBezTo>
                  <a:pt x="8803533" y="21568"/>
                  <a:pt x="9307226" y="-46066"/>
                  <a:pt x="9612900" y="0"/>
                </a:cubicBezTo>
                <a:cubicBezTo>
                  <a:pt x="10119954" y="-10560"/>
                  <a:pt x="10418674" y="366684"/>
                  <a:pt x="10515600" y="902700"/>
                </a:cubicBezTo>
                <a:cubicBezTo>
                  <a:pt x="10494548" y="1140809"/>
                  <a:pt x="10524881" y="1252168"/>
                  <a:pt x="10515600" y="1504482"/>
                </a:cubicBezTo>
                <a:cubicBezTo>
                  <a:pt x="10506319" y="1756796"/>
                  <a:pt x="10494309" y="1995078"/>
                  <a:pt x="10515600" y="2178479"/>
                </a:cubicBezTo>
                <a:cubicBezTo>
                  <a:pt x="10536891" y="2361880"/>
                  <a:pt x="10522845" y="2487483"/>
                  <a:pt x="10515600" y="2780261"/>
                </a:cubicBezTo>
                <a:cubicBezTo>
                  <a:pt x="10508355" y="3073039"/>
                  <a:pt x="10533694" y="3138252"/>
                  <a:pt x="10515600" y="3273722"/>
                </a:cubicBezTo>
                <a:cubicBezTo>
                  <a:pt x="10497506" y="3409192"/>
                  <a:pt x="10514952" y="3569910"/>
                  <a:pt x="10515600" y="3803291"/>
                </a:cubicBezTo>
                <a:cubicBezTo>
                  <a:pt x="10516248" y="4036672"/>
                  <a:pt x="10499126" y="4317688"/>
                  <a:pt x="10515600" y="4513394"/>
                </a:cubicBezTo>
                <a:cubicBezTo>
                  <a:pt x="10585499" y="4997151"/>
                  <a:pt x="10115437" y="5453981"/>
                  <a:pt x="9612900" y="5416094"/>
                </a:cubicBezTo>
                <a:cubicBezTo>
                  <a:pt x="9473271" y="5418358"/>
                  <a:pt x="9316384" y="5423764"/>
                  <a:pt x="9117089" y="5416094"/>
                </a:cubicBezTo>
                <a:cubicBezTo>
                  <a:pt x="8917794" y="5408424"/>
                  <a:pt x="8902141" y="5433256"/>
                  <a:pt x="8708379" y="5416094"/>
                </a:cubicBezTo>
                <a:cubicBezTo>
                  <a:pt x="8514617" y="5398933"/>
                  <a:pt x="8454700" y="5422387"/>
                  <a:pt x="8299670" y="5416094"/>
                </a:cubicBezTo>
                <a:cubicBezTo>
                  <a:pt x="8144640" y="5409801"/>
                  <a:pt x="7907022" y="5398388"/>
                  <a:pt x="7629654" y="5416094"/>
                </a:cubicBezTo>
                <a:cubicBezTo>
                  <a:pt x="7352286" y="5433800"/>
                  <a:pt x="7244777" y="5409877"/>
                  <a:pt x="7133843" y="5416094"/>
                </a:cubicBezTo>
                <a:cubicBezTo>
                  <a:pt x="7022909" y="5422311"/>
                  <a:pt x="6748865" y="5379753"/>
                  <a:pt x="6376726" y="5416094"/>
                </a:cubicBezTo>
                <a:cubicBezTo>
                  <a:pt x="6004587" y="5452435"/>
                  <a:pt x="5991442" y="5438860"/>
                  <a:pt x="5880914" y="5416094"/>
                </a:cubicBezTo>
                <a:cubicBezTo>
                  <a:pt x="5770386" y="5393328"/>
                  <a:pt x="5294303" y="5440618"/>
                  <a:pt x="5123797" y="5416094"/>
                </a:cubicBezTo>
                <a:cubicBezTo>
                  <a:pt x="4953291" y="5391570"/>
                  <a:pt x="4828705" y="5430421"/>
                  <a:pt x="4715088" y="5416094"/>
                </a:cubicBezTo>
                <a:cubicBezTo>
                  <a:pt x="4601471" y="5401767"/>
                  <a:pt x="4227806" y="5381491"/>
                  <a:pt x="3957970" y="5416094"/>
                </a:cubicBezTo>
                <a:cubicBezTo>
                  <a:pt x="3688134" y="5450697"/>
                  <a:pt x="3670638" y="5425309"/>
                  <a:pt x="3462159" y="5416094"/>
                </a:cubicBezTo>
                <a:cubicBezTo>
                  <a:pt x="3253680" y="5406879"/>
                  <a:pt x="3167443" y="5432031"/>
                  <a:pt x="3053449" y="5416094"/>
                </a:cubicBezTo>
                <a:cubicBezTo>
                  <a:pt x="2939455" y="5400158"/>
                  <a:pt x="2701485" y="5433995"/>
                  <a:pt x="2557638" y="5416094"/>
                </a:cubicBezTo>
                <a:cubicBezTo>
                  <a:pt x="2413791" y="5398193"/>
                  <a:pt x="2168647" y="5424510"/>
                  <a:pt x="1800521" y="5416094"/>
                </a:cubicBezTo>
                <a:cubicBezTo>
                  <a:pt x="1432395" y="5407678"/>
                  <a:pt x="1261364" y="5454497"/>
                  <a:pt x="902700" y="5416094"/>
                </a:cubicBezTo>
                <a:cubicBezTo>
                  <a:pt x="519468" y="5419760"/>
                  <a:pt x="63003" y="5077223"/>
                  <a:pt x="0" y="4513394"/>
                </a:cubicBezTo>
                <a:cubicBezTo>
                  <a:pt x="-20265" y="4243495"/>
                  <a:pt x="27650" y="4053844"/>
                  <a:pt x="0" y="3911612"/>
                </a:cubicBezTo>
                <a:cubicBezTo>
                  <a:pt x="-27650" y="3769380"/>
                  <a:pt x="24988" y="3469350"/>
                  <a:pt x="0" y="3309829"/>
                </a:cubicBezTo>
                <a:cubicBezTo>
                  <a:pt x="-24988" y="3150308"/>
                  <a:pt x="-16973" y="2933511"/>
                  <a:pt x="0" y="2780261"/>
                </a:cubicBezTo>
                <a:cubicBezTo>
                  <a:pt x="16973" y="2627011"/>
                  <a:pt x="-11552" y="2315258"/>
                  <a:pt x="0" y="2106265"/>
                </a:cubicBezTo>
                <a:cubicBezTo>
                  <a:pt x="11552" y="1897272"/>
                  <a:pt x="-9167" y="1726905"/>
                  <a:pt x="0" y="1504482"/>
                </a:cubicBezTo>
                <a:cubicBezTo>
                  <a:pt x="9167" y="1282059"/>
                  <a:pt x="10972" y="1160784"/>
                  <a:pt x="0" y="902700"/>
                </a:cubicBezTo>
                <a:close/>
              </a:path>
            </a:pathLst>
          </a:custGeom>
          <a:noFill/>
          <a:ln w="60325" cap="rnd">
            <a:solidFill>
              <a:schemeClr val="tx1"/>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Shape 124">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DC382A-AED4-4F89-1533-55B7F6483BD3}"/>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Introduction to Microsoft power bi</a:t>
            </a:r>
          </a:p>
        </p:txBody>
      </p:sp>
      <p:graphicFrame>
        <p:nvGraphicFramePr>
          <p:cNvPr id="112" name="Content Placeholder 109">
            <a:extLst>
              <a:ext uri="{FF2B5EF4-FFF2-40B4-BE49-F238E27FC236}">
                <a16:creationId xmlns:a16="http://schemas.microsoft.com/office/drawing/2014/main" id="{3BEFBDE3-EEAD-9FF1-4DAB-ACB47D46939C}"/>
              </a:ext>
            </a:extLst>
          </p:cNvPr>
          <p:cNvGraphicFramePr>
            <a:graphicFrameLocks noGrp="1"/>
          </p:cNvGraphicFramePr>
          <p:nvPr>
            <p:ph idx="1"/>
            <p:extLst>
              <p:ext uri="{D42A27DB-BD31-4B8C-83A1-F6EECF244321}">
                <p14:modId xmlns:p14="http://schemas.microsoft.com/office/powerpoint/2010/main" val="414517185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6971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1" name="Rectangle 10">
            <a:extLst>
              <a:ext uri="{FF2B5EF4-FFF2-40B4-BE49-F238E27FC236}">
                <a16:creationId xmlns:a16="http://schemas.microsoft.com/office/drawing/2014/main" id="{B06D62A2-ECA3-4A1D-B1BB-F2659EAF0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0429C1AB-D5BC-4D8B-0004-8AAE04844C0B}"/>
              </a:ext>
            </a:extLst>
          </p:cNvPr>
          <p:cNvSpPr>
            <a:spLocks noGrp="1"/>
          </p:cNvSpPr>
          <p:nvPr>
            <p:ph type="title"/>
          </p:nvPr>
        </p:nvSpPr>
        <p:spPr>
          <a:xfrm>
            <a:off x="638881" y="333867"/>
            <a:ext cx="10909640" cy="904970"/>
          </a:xfrm>
        </p:spPr>
        <p:txBody>
          <a:bodyPr vert="horz" lIns="91440" tIns="45720" rIns="91440" bIns="45720" rtlCol="0" anchor="ctr">
            <a:normAutofit fontScale="90000"/>
          </a:bodyPr>
          <a:lstStyle/>
          <a:p>
            <a:pPr algn="ctr"/>
            <a:r>
              <a:rPr lang="en-US" sz="6000" dirty="0">
                <a:solidFill>
                  <a:srgbClr val="FF0000"/>
                </a:solidFill>
              </a:rPr>
              <a:t>Cvs. Excel files</a:t>
            </a:r>
          </a:p>
        </p:txBody>
      </p:sp>
      <p:pic>
        <p:nvPicPr>
          <p:cNvPr id="4" name="Content Placeholder 3" descr="A screenshot of a computer&#10;&#10;Description automatically generated">
            <a:extLst>
              <a:ext uri="{FF2B5EF4-FFF2-40B4-BE49-F238E27FC236}">
                <a16:creationId xmlns:a16="http://schemas.microsoft.com/office/drawing/2014/main" id="{7BDB1B5A-9AF1-6E4B-C249-8A78F7860F8C}"/>
              </a:ext>
            </a:extLst>
          </p:cNvPr>
          <p:cNvPicPr>
            <a:picLocks noGrp="1" noChangeAspect="1"/>
          </p:cNvPicPr>
          <p:nvPr>
            <p:ph idx="1"/>
          </p:nvPr>
        </p:nvPicPr>
        <p:blipFill>
          <a:blip r:embed="rId2"/>
          <a:stretch>
            <a:fillRect/>
          </a:stretch>
        </p:blipFill>
        <p:spPr>
          <a:xfrm>
            <a:off x="1073823" y="1386840"/>
            <a:ext cx="10055160" cy="5317651"/>
          </a:xfrm>
          <a:prstGeom prst="rect">
            <a:avLst/>
          </a:prstGeom>
        </p:spPr>
      </p:pic>
    </p:spTree>
    <p:extLst>
      <p:ext uri="{BB962C8B-B14F-4D97-AF65-F5344CB8AC3E}">
        <p14:creationId xmlns:p14="http://schemas.microsoft.com/office/powerpoint/2010/main" val="241943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733F322F-D80D-9207-E50A-9D7F2134FFC7}"/>
              </a:ext>
            </a:extLst>
          </p:cNvPr>
          <p:cNvSpPr>
            <a:spLocks noGrp="1"/>
          </p:cNvSpPr>
          <p:nvPr>
            <p:ph type="title"/>
          </p:nvPr>
        </p:nvSpPr>
        <p:spPr>
          <a:xfrm>
            <a:off x="126514" y="214517"/>
            <a:ext cx="4051478" cy="2325631"/>
          </a:xfrm>
        </p:spPr>
        <p:txBody>
          <a:bodyPr vert="horz" lIns="91440" tIns="45720" rIns="91440" bIns="45720" rtlCol="0" anchor="b">
            <a:noAutofit/>
          </a:bodyPr>
          <a:lstStyle/>
          <a:p>
            <a:r>
              <a:rPr lang="en-US" sz="4000" dirty="0">
                <a:solidFill>
                  <a:srgbClr val="000000"/>
                </a:solidFill>
                <a:latin typeface="The Serif Hand Black"/>
                <a:cs typeface="Arial"/>
              </a:rPr>
              <a:t>The information we see in the picture on this slide is about the vests that our customers bought in May</a:t>
            </a:r>
            <a:endParaRPr lang="en-US" sz="4000"/>
          </a:p>
        </p:txBody>
      </p:sp>
      <p:sp>
        <p:nvSpPr>
          <p:cNvPr id="24"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1882FB"/>
          </a:solidFill>
          <a:ln w="38100" cap="rnd">
            <a:solidFill>
              <a:srgbClr val="1882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13">
            <a:extLst>
              <a:ext uri="{FF2B5EF4-FFF2-40B4-BE49-F238E27FC236}">
                <a16:creationId xmlns:a16="http://schemas.microsoft.com/office/drawing/2014/main" id="{D3C1058A-9428-0A7A-EC08-FA6D82415F7C}"/>
              </a:ext>
            </a:extLst>
          </p:cNvPr>
          <p:cNvSpPr>
            <a:spLocks noGrp="1"/>
          </p:cNvSpPr>
          <p:nvPr>
            <p:ph idx="1"/>
          </p:nvPr>
        </p:nvSpPr>
        <p:spPr>
          <a:xfrm>
            <a:off x="126514" y="2874823"/>
            <a:ext cx="4051478" cy="3441119"/>
          </a:xfrm>
        </p:spPr>
        <p:txBody>
          <a:bodyPr anchor="t">
            <a:normAutofit/>
          </a:bodyPr>
          <a:lstStyle/>
          <a:p>
            <a:r>
              <a:rPr lang="en-US" sz="2400" b="1" dirty="0">
                <a:solidFill>
                  <a:srgbClr val="000000"/>
                </a:solidFill>
                <a:latin typeface="The Hand Bold"/>
                <a:cs typeface="Arial"/>
              </a:rPr>
              <a:t>As you can see in the picture, our male customers are ahead in vest sales in May.</a:t>
            </a:r>
          </a:p>
          <a:p>
            <a:r>
              <a:rPr lang="en-US" sz="2400" b="1" dirty="0">
                <a:solidFill>
                  <a:srgbClr val="000000"/>
                </a:solidFill>
                <a:latin typeface="The Hand Bold"/>
                <a:cs typeface="Arial"/>
              </a:rPr>
              <a:t>Mostly size M vests were sold, and size S and size L and size XL vests were sold, respectively.</a:t>
            </a:r>
          </a:p>
          <a:p>
            <a:r>
              <a:rPr lang="en-US" sz="2400" b="1" dirty="0">
                <a:solidFill>
                  <a:srgbClr val="000000"/>
                </a:solidFill>
                <a:latin typeface="The Hand Bold"/>
                <a:cs typeface="Arial"/>
              </a:rPr>
              <a:t>On the customer city map, we see in which parts of the world sales are concentrated.</a:t>
            </a:r>
          </a:p>
        </p:txBody>
      </p:sp>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26" name="Ink 25">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2" name="Picture 1" descr="A screenshot of a computer&#10;&#10;Description automatically generated">
            <a:extLst>
              <a:ext uri="{FF2B5EF4-FFF2-40B4-BE49-F238E27FC236}">
                <a16:creationId xmlns:a16="http://schemas.microsoft.com/office/drawing/2014/main" id="{BD17E1AC-E05B-4978-B6C5-730D1B4C51A3}"/>
              </a:ext>
            </a:extLst>
          </p:cNvPr>
          <p:cNvPicPr>
            <a:picLocks noChangeAspect="1"/>
          </p:cNvPicPr>
          <p:nvPr/>
        </p:nvPicPr>
        <p:blipFill>
          <a:blip r:embed="rId4"/>
          <a:stretch>
            <a:fillRect/>
          </a:stretch>
        </p:blipFill>
        <p:spPr>
          <a:xfrm>
            <a:off x="4177393" y="-6396"/>
            <a:ext cx="8014606" cy="6870792"/>
          </a:xfrm>
          <a:prstGeom prst="rect">
            <a:avLst/>
          </a:prstGeom>
        </p:spPr>
      </p:pic>
    </p:spTree>
    <p:extLst>
      <p:ext uri="{BB962C8B-B14F-4D97-AF65-F5344CB8AC3E}">
        <p14:creationId xmlns:p14="http://schemas.microsoft.com/office/powerpoint/2010/main" val="3383409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0D5986-675B-5B9F-F527-2B4CC663A7A5}"/>
              </a:ext>
            </a:extLst>
          </p:cNvPr>
          <p:cNvSpPr>
            <a:spLocks noGrp="1"/>
          </p:cNvSpPr>
          <p:nvPr>
            <p:ph type="title"/>
          </p:nvPr>
        </p:nvSpPr>
        <p:spPr>
          <a:xfrm>
            <a:off x="222722" y="299342"/>
            <a:ext cx="3905250" cy="2059250"/>
          </a:xfrm>
        </p:spPr>
        <p:txBody>
          <a:bodyPr vert="horz" lIns="91440" tIns="45720" rIns="91440" bIns="45720" rtlCol="0" anchor="b">
            <a:noAutofit/>
          </a:bodyPr>
          <a:lstStyle/>
          <a:p>
            <a:r>
              <a:rPr lang="en-US" sz="4400" dirty="0">
                <a:solidFill>
                  <a:srgbClr val="000000"/>
                </a:solidFill>
                <a:latin typeface="The Serif Hand Black"/>
                <a:cs typeface="Arial"/>
              </a:rPr>
              <a:t>On this slide, we have data on bike sales in  April</a:t>
            </a:r>
            <a:endParaRPr lang="en-US" sz="4400" dirty="0"/>
          </a:p>
        </p:txBody>
      </p:sp>
      <p:sp>
        <p:nvSpPr>
          <p:cNvPr id="1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BBFE3C"/>
          </a:solidFill>
          <a:ln w="38100" cap="rnd">
            <a:solidFill>
              <a:srgbClr val="BBFE3C"/>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8D62126A-C5B0-CD29-9265-FDF1A902E27E}"/>
              </a:ext>
            </a:extLst>
          </p:cNvPr>
          <p:cNvSpPr>
            <a:spLocks noGrp="1"/>
          </p:cNvSpPr>
          <p:nvPr>
            <p:ph idx="1"/>
          </p:nvPr>
        </p:nvSpPr>
        <p:spPr>
          <a:xfrm>
            <a:off x="217807" y="2551477"/>
            <a:ext cx="3551988" cy="4152973"/>
          </a:xfrm>
        </p:spPr>
        <p:txBody>
          <a:bodyPr anchor="t">
            <a:normAutofit lnSpcReduction="10000"/>
          </a:bodyPr>
          <a:lstStyle/>
          <a:p>
            <a:r>
              <a:rPr lang="en-US" sz="2400" b="1" dirty="0">
                <a:solidFill>
                  <a:srgbClr val="000000"/>
                </a:solidFill>
                <a:latin typeface="The Hand Bold"/>
                <a:cs typeface="Arial"/>
              </a:rPr>
              <a:t>We see the total amount of sales according to the road bike product model name in  the section on the left..</a:t>
            </a:r>
            <a:endParaRPr lang="en-US" sz="2400" b="1" dirty="0">
              <a:cs typeface="Arial"/>
            </a:endParaRPr>
          </a:p>
          <a:p>
            <a:r>
              <a:rPr lang="en-US" sz="2400" b="1" dirty="0">
                <a:solidFill>
                  <a:srgbClr val="000000"/>
                </a:solidFill>
                <a:latin typeface="The Hand Bold"/>
                <a:cs typeface="Arial"/>
              </a:rPr>
              <a:t>As can be seen in the upper corner on the right, we see sales and sales order numbers by </a:t>
            </a:r>
            <a:r>
              <a:rPr lang="en-US" sz="2400" b="1" dirty="0" err="1">
                <a:solidFill>
                  <a:srgbClr val="000000"/>
                </a:solidFill>
                <a:latin typeface="The Hand Bold"/>
                <a:cs typeface="Arial"/>
              </a:rPr>
              <a:t>day,according</a:t>
            </a:r>
            <a:r>
              <a:rPr lang="en-US" sz="2400" b="1" dirty="0">
                <a:solidFill>
                  <a:srgbClr val="000000"/>
                </a:solidFill>
                <a:latin typeface="The Hand Bold"/>
                <a:cs typeface="Arial"/>
              </a:rPr>
              <a:t> to which we have  determined that sales increase on Saturdays</a:t>
            </a:r>
          </a:p>
          <a:p>
            <a:r>
              <a:rPr lang="en-US" sz="2400" b="1" dirty="0">
                <a:solidFill>
                  <a:srgbClr val="000000"/>
                </a:solidFill>
                <a:latin typeface="The Hand Bold"/>
                <a:cs typeface="Arial"/>
              </a:rPr>
              <a:t>We see that female customers excel in sales with a sales figure of 309.26K in April.</a:t>
            </a:r>
            <a:endParaRPr lang="en-US" dirty="0"/>
          </a:p>
          <a:p>
            <a:pPr marL="0" indent="0">
              <a:buNone/>
            </a:pPr>
            <a:r>
              <a:rPr lang="en-US" sz="2400" b="1" dirty="0">
                <a:solidFill>
                  <a:srgbClr val="000000"/>
                </a:solidFill>
                <a:latin typeface="The Hand Bold"/>
                <a:cs typeface="Arial"/>
              </a:rPr>
              <a:t>.</a:t>
            </a:r>
            <a:endParaRPr lang="en-US" dirty="0"/>
          </a:p>
          <a:p>
            <a:pPr marL="0" indent="0">
              <a:buNone/>
            </a:pPr>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a:p>
            <a:endParaRPr lang="en-US" sz="2400" b="1" dirty="0">
              <a:solidFill>
                <a:srgbClr val="000000"/>
              </a:solidFill>
              <a:latin typeface="The Hand Bold"/>
              <a:cs typeface="Arial"/>
            </a:endParaRP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3" name="Picture 2" descr="A screenshot of a computer&#10;&#10;Description automatically generated">
            <a:extLst>
              <a:ext uri="{FF2B5EF4-FFF2-40B4-BE49-F238E27FC236}">
                <a16:creationId xmlns:a16="http://schemas.microsoft.com/office/drawing/2014/main" id="{0BC8B678-083F-7062-A861-77122ACCBF4B}"/>
              </a:ext>
            </a:extLst>
          </p:cNvPr>
          <p:cNvPicPr>
            <a:picLocks noChangeAspect="1"/>
          </p:cNvPicPr>
          <p:nvPr/>
        </p:nvPicPr>
        <p:blipFill>
          <a:blip r:embed="rId4"/>
          <a:stretch>
            <a:fillRect/>
          </a:stretch>
        </p:blipFill>
        <p:spPr>
          <a:xfrm>
            <a:off x="3973287" y="-6753"/>
            <a:ext cx="8218713" cy="6871504"/>
          </a:xfrm>
          <a:prstGeom prst="rect">
            <a:avLst/>
          </a:prstGeom>
        </p:spPr>
      </p:pic>
    </p:spTree>
    <p:extLst>
      <p:ext uri="{BB962C8B-B14F-4D97-AF65-F5344CB8AC3E}">
        <p14:creationId xmlns:p14="http://schemas.microsoft.com/office/powerpoint/2010/main" val="1418707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114A93-FBA9-EF0A-1D6F-7F30D287756F}"/>
              </a:ext>
            </a:extLst>
          </p:cNvPr>
          <p:cNvSpPr>
            <a:spLocks noGrp="1"/>
          </p:cNvSpPr>
          <p:nvPr>
            <p:ph type="title"/>
          </p:nvPr>
        </p:nvSpPr>
        <p:spPr>
          <a:xfrm>
            <a:off x="113095" y="812048"/>
            <a:ext cx="3864429" cy="1719072"/>
          </a:xfrm>
        </p:spPr>
        <p:txBody>
          <a:bodyPr vert="horz" lIns="91440" tIns="45720" rIns="91440" bIns="45720" rtlCol="0" anchor="b">
            <a:noAutofit/>
          </a:bodyPr>
          <a:lstStyle/>
          <a:p>
            <a:r>
              <a:rPr lang="en-US" sz="4000" b="1" dirty="0">
                <a:solidFill>
                  <a:srgbClr val="000000"/>
                </a:solidFill>
                <a:latin typeface="The Serif Hand Black"/>
                <a:cs typeface="Arial"/>
              </a:rPr>
              <a:t>In the clothing category  in June 2023, we examine the shorts sold by our  company</a:t>
            </a:r>
            <a:endParaRPr lang="en-US" sz="4000" b="1" dirty="0"/>
          </a:p>
        </p:txBody>
      </p:sp>
      <p:sp>
        <p:nvSpPr>
          <p:cNvPr id="1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3291FD"/>
          </a:solidFill>
          <a:ln w="38100" cap="rnd">
            <a:solidFill>
              <a:srgbClr val="3291FD"/>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27D0CAC7-3A04-E987-3258-CEA6AD1A29BE}"/>
              </a:ext>
            </a:extLst>
          </p:cNvPr>
          <p:cNvSpPr>
            <a:spLocks noGrp="1"/>
          </p:cNvSpPr>
          <p:nvPr>
            <p:ph idx="1"/>
          </p:nvPr>
        </p:nvSpPr>
        <p:spPr>
          <a:xfrm>
            <a:off x="113352" y="2749699"/>
            <a:ext cx="3860321" cy="3568863"/>
          </a:xfrm>
        </p:spPr>
        <p:txBody>
          <a:bodyPr anchor="t">
            <a:normAutofit/>
          </a:bodyPr>
          <a:lstStyle/>
          <a:p>
            <a:r>
              <a:rPr lang="en-US" sz="2400" b="1" dirty="0">
                <a:solidFill>
                  <a:srgbClr val="000000"/>
                </a:solidFill>
                <a:latin typeface="The Hand Bold"/>
                <a:cs typeface="Arial"/>
              </a:rPr>
              <a:t>In the section in the lower left corner there is a description of our shorts, next to it is in which cities they were bought.</a:t>
            </a:r>
          </a:p>
          <a:p>
            <a:r>
              <a:rPr lang="en-US" sz="2400" b="1" dirty="0">
                <a:solidFill>
                  <a:srgbClr val="000000"/>
                </a:solidFill>
                <a:latin typeface="The Hand Bold"/>
                <a:cs typeface="Arial"/>
              </a:rPr>
              <a:t>In the upper right section, there is a total of the sales amount and it shows which color shorts  are sold.</a:t>
            </a:r>
          </a:p>
          <a:p>
            <a:r>
              <a:rPr lang="en-US" sz="2400" b="1" dirty="0">
                <a:solidFill>
                  <a:srgbClr val="000000"/>
                </a:solidFill>
                <a:latin typeface="The Hand Bold"/>
                <a:cs typeface="Arial"/>
              </a:rPr>
              <a:t>Compared to June 2023, black shorts are more  preferred</a:t>
            </a: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3" name="Picture 2" descr="A screenshot of a computer&#10;&#10;Description automatically generated">
            <a:extLst>
              <a:ext uri="{FF2B5EF4-FFF2-40B4-BE49-F238E27FC236}">
                <a16:creationId xmlns:a16="http://schemas.microsoft.com/office/drawing/2014/main" id="{8A6B90CC-1020-C56F-7C13-2D03AC93A987}"/>
              </a:ext>
            </a:extLst>
          </p:cNvPr>
          <p:cNvPicPr>
            <a:picLocks noChangeAspect="1"/>
          </p:cNvPicPr>
          <p:nvPr/>
        </p:nvPicPr>
        <p:blipFill>
          <a:blip r:embed="rId4"/>
          <a:stretch>
            <a:fillRect/>
          </a:stretch>
        </p:blipFill>
        <p:spPr>
          <a:xfrm>
            <a:off x="3973287" y="1904"/>
            <a:ext cx="8218713" cy="6854191"/>
          </a:xfrm>
          <a:prstGeom prst="rect">
            <a:avLst/>
          </a:prstGeom>
        </p:spPr>
      </p:pic>
    </p:spTree>
    <p:extLst>
      <p:ext uri="{BB962C8B-B14F-4D97-AF65-F5344CB8AC3E}">
        <p14:creationId xmlns:p14="http://schemas.microsoft.com/office/powerpoint/2010/main" val="132963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8039E9-7D70-CC64-C962-EB6A8986BFE3}"/>
              </a:ext>
            </a:extLst>
          </p:cNvPr>
          <p:cNvSpPr>
            <a:spLocks noGrp="1"/>
          </p:cNvSpPr>
          <p:nvPr>
            <p:ph type="title"/>
          </p:nvPr>
        </p:nvSpPr>
        <p:spPr>
          <a:xfrm>
            <a:off x="272530" y="458262"/>
            <a:ext cx="3701142" cy="1719072"/>
          </a:xfrm>
        </p:spPr>
        <p:txBody>
          <a:bodyPr vert="horz" lIns="91440" tIns="45720" rIns="91440" bIns="45720" rtlCol="0" anchor="b">
            <a:noAutofit/>
          </a:bodyPr>
          <a:lstStyle/>
          <a:p>
            <a:r>
              <a:rPr lang="en-US" sz="4000" b="1" dirty="0">
                <a:solidFill>
                  <a:srgbClr val="000000"/>
                </a:solidFill>
                <a:latin typeface="The Serif Hand Black"/>
                <a:cs typeface="Arial"/>
              </a:rPr>
              <a:t>Let's examine the sales figures of the mountain bike 200, silver color 38</a:t>
            </a:r>
            <a:endParaRPr lang="en-US" sz="4000" b="1" dirty="0"/>
          </a:p>
        </p:txBody>
      </p:sp>
      <p:sp>
        <p:nvSpPr>
          <p:cNvPr id="1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258AFD"/>
          </a:solidFill>
          <a:ln w="38100" cap="rnd">
            <a:solidFill>
              <a:srgbClr val="258AFD"/>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122E03CA-5137-A65D-7A35-A545E63945A0}"/>
              </a:ext>
            </a:extLst>
          </p:cNvPr>
          <p:cNvSpPr>
            <a:spLocks noGrp="1"/>
          </p:cNvSpPr>
          <p:nvPr>
            <p:ph idx="1"/>
          </p:nvPr>
        </p:nvSpPr>
        <p:spPr>
          <a:xfrm>
            <a:off x="142106" y="2692190"/>
            <a:ext cx="4144947" cy="4026466"/>
          </a:xfrm>
        </p:spPr>
        <p:txBody>
          <a:bodyPr anchor="t">
            <a:normAutofit/>
          </a:bodyPr>
          <a:lstStyle/>
          <a:p>
            <a:r>
              <a:rPr lang="en-US" sz="2400" b="1" dirty="0">
                <a:solidFill>
                  <a:srgbClr val="000000"/>
                </a:solidFill>
                <a:latin typeface="The Hand Bold"/>
                <a:cs typeface="Arial"/>
              </a:rPr>
              <a:t>According to the figures for January 2023, the  figures of the mountain bike 200 silver color 38  model are low compared to other models.</a:t>
            </a:r>
          </a:p>
          <a:p>
            <a:r>
              <a:rPr lang="en-US" sz="2400" b="1" dirty="0">
                <a:solidFill>
                  <a:srgbClr val="000000"/>
                </a:solidFill>
                <a:latin typeface="The Hand Bold"/>
                <a:cs typeface="Arial"/>
              </a:rPr>
              <a:t>Product sales figures: 766,754 units sold Half the size of the black model.</a:t>
            </a:r>
          </a:p>
          <a:p>
            <a:r>
              <a:rPr lang="en-US" sz="2400" b="1" dirty="0">
                <a:solidFill>
                  <a:srgbClr val="000000"/>
                </a:solidFill>
                <a:latin typeface="The Hand Bold"/>
                <a:cs typeface="Arial"/>
              </a:rPr>
              <a:t>In the lower section, you can see the description of the product, sales by the date of first purchase, the date of sale, the number of keys and the product  names according to the sales on all bikes.</a:t>
            </a: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3" name="Picture 2" descr="A screenshot of a computer screen&#10;&#10;Description automatically generated">
            <a:extLst>
              <a:ext uri="{FF2B5EF4-FFF2-40B4-BE49-F238E27FC236}">
                <a16:creationId xmlns:a16="http://schemas.microsoft.com/office/drawing/2014/main" id="{DC232411-BB9D-535B-A34F-0924FAD7AF32}"/>
              </a:ext>
            </a:extLst>
          </p:cNvPr>
          <p:cNvPicPr>
            <a:picLocks noChangeAspect="1"/>
          </p:cNvPicPr>
          <p:nvPr/>
        </p:nvPicPr>
        <p:blipFill>
          <a:blip r:embed="rId4"/>
          <a:stretch>
            <a:fillRect/>
          </a:stretch>
        </p:blipFill>
        <p:spPr>
          <a:xfrm>
            <a:off x="4190999" y="2781"/>
            <a:ext cx="8001001" cy="6716366"/>
          </a:xfrm>
          <a:prstGeom prst="rect">
            <a:avLst/>
          </a:prstGeom>
        </p:spPr>
      </p:pic>
    </p:spTree>
    <p:extLst>
      <p:ext uri="{BB962C8B-B14F-4D97-AF65-F5344CB8AC3E}">
        <p14:creationId xmlns:p14="http://schemas.microsoft.com/office/powerpoint/2010/main" val="56663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0BB64-45DE-8C3C-2057-BA85632B19ED}"/>
              </a:ext>
            </a:extLst>
          </p:cNvPr>
          <p:cNvSpPr>
            <a:spLocks noGrp="1"/>
          </p:cNvSpPr>
          <p:nvPr>
            <p:ph type="title"/>
          </p:nvPr>
        </p:nvSpPr>
        <p:spPr>
          <a:xfrm>
            <a:off x="347240" y="622462"/>
            <a:ext cx="3450566" cy="1901100"/>
          </a:xfrm>
        </p:spPr>
        <p:txBody>
          <a:bodyPr vert="horz" lIns="91440" tIns="45720" rIns="91440" bIns="45720" rtlCol="0" anchor="b">
            <a:noAutofit/>
          </a:bodyPr>
          <a:lstStyle/>
          <a:p>
            <a:r>
              <a:rPr lang="en-US" sz="4000" b="1" dirty="0">
                <a:solidFill>
                  <a:srgbClr val="000000"/>
                </a:solidFill>
                <a:latin typeface="The Serif Hand Black"/>
                <a:cs typeface="Arial"/>
              </a:rPr>
              <a:t>In this slide, we will examine water bottle sales for February  2023</a:t>
            </a:r>
            <a:endParaRPr lang="en-US" sz="4000" b="1" dirty="0"/>
          </a:p>
        </p:txBody>
      </p:sp>
      <p:sp>
        <p:nvSpPr>
          <p:cNvPr id="1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2188FD"/>
          </a:solidFill>
          <a:ln w="38100" cap="rnd">
            <a:solidFill>
              <a:srgbClr val="2188FD"/>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44E69542-A077-3D47-BCFB-85D0A32892D6}"/>
              </a:ext>
            </a:extLst>
          </p:cNvPr>
          <p:cNvSpPr>
            <a:spLocks noGrp="1"/>
          </p:cNvSpPr>
          <p:nvPr>
            <p:ph idx="1"/>
          </p:nvPr>
        </p:nvSpPr>
        <p:spPr>
          <a:xfrm>
            <a:off x="170861" y="2548416"/>
            <a:ext cx="3802811" cy="3669504"/>
          </a:xfrm>
        </p:spPr>
        <p:txBody>
          <a:bodyPr anchor="t">
            <a:normAutofit/>
          </a:bodyPr>
          <a:lstStyle/>
          <a:p>
            <a:r>
              <a:rPr lang="en-US" sz="2400" b="1" dirty="0">
                <a:solidFill>
                  <a:srgbClr val="000000"/>
                </a:solidFill>
                <a:latin typeface="The Hand Bold"/>
                <a:cs typeface="Arial"/>
              </a:rPr>
              <a:t>On our map on the left, we can see which  cities our customers shop from monthly.</a:t>
            </a:r>
          </a:p>
          <a:p>
            <a:r>
              <a:rPr lang="en-US" sz="2400" b="1" dirty="0">
                <a:solidFill>
                  <a:srgbClr val="000000"/>
                </a:solidFill>
                <a:latin typeface="The Hand Bold"/>
                <a:cs typeface="Arial"/>
              </a:rPr>
              <a:t>In our scale chart at the bottom right, we can  see the total sales amount and the first product model name</a:t>
            </a:r>
          </a:p>
          <a:p>
            <a:r>
              <a:rPr lang="en-US" sz="2400" b="1" dirty="0">
                <a:solidFill>
                  <a:srgbClr val="000000"/>
                </a:solidFill>
                <a:latin typeface="The Hand Bold"/>
                <a:cs typeface="Arial"/>
              </a:rPr>
              <a:t>When we click on the water bottle in the waterfall chart at the top right, we can examine the product model name and product color chart.</a:t>
            </a: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5" name="Ink 1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3" name="Picture 2" descr="A screenshot of a computer">
            <a:extLst>
              <a:ext uri="{FF2B5EF4-FFF2-40B4-BE49-F238E27FC236}">
                <a16:creationId xmlns:a16="http://schemas.microsoft.com/office/drawing/2014/main" id="{71F465F7-1FBA-E47D-7E90-DF155FA92BBA}"/>
              </a:ext>
            </a:extLst>
          </p:cNvPr>
          <p:cNvPicPr>
            <a:picLocks noChangeAspect="1"/>
          </p:cNvPicPr>
          <p:nvPr/>
        </p:nvPicPr>
        <p:blipFill>
          <a:blip r:embed="rId4"/>
          <a:stretch>
            <a:fillRect/>
          </a:stretch>
        </p:blipFill>
        <p:spPr>
          <a:xfrm>
            <a:off x="3973286" y="-1650"/>
            <a:ext cx="8218713" cy="6861302"/>
          </a:xfrm>
          <a:prstGeom prst="rect">
            <a:avLst/>
          </a:prstGeom>
        </p:spPr>
      </p:pic>
    </p:spTree>
    <p:extLst>
      <p:ext uri="{BB962C8B-B14F-4D97-AF65-F5344CB8AC3E}">
        <p14:creationId xmlns:p14="http://schemas.microsoft.com/office/powerpoint/2010/main" val="279074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7" name="Rectangle 16">
            <a:extLst>
              <a:ext uri="{FF2B5EF4-FFF2-40B4-BE49-F238E27FC236}">
                <a16:creationId xmlns:a16="http://schemas.microsoft.com/office/drawing/2014/main" id="{678CC48C-9275-4EFA-9B84-8E818500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A bright light in the dark&#10;&#10;Description automatically generated">
            <a:extLst>
              <a:ext uri="{FF2B5EF4-FFF2-40B4-BE49-F238E27FC236}">
                <a16:creationId xmlns:a16="http://schemas.microsoft.com/office/drawing/2014/main" id="{5DCF1371-6ED3-3FEF-8631-1AB65A7392C6}"/>
              </a:ext>
            </a:extLst>
          </p:cNvPr>
          <p:cNvPicPr>
            <a:picLocks noGrp="1" noChangeAspect="1"/>
          </p:cNvPicPr>
          <p:nvPr>
            <p:ph idx="1"/>
          </p:nvPr>
        </p:nvPicPr>
        <p:blipFill rotWithShape="1">
          <a:blip r:embed="rId2"/>
          <a:srcRect t="2351" r="-1" b="7625"/>
          <a:stretch/>
        </p:blipFill>
        <p:spPr>
          <a:xfrm>
            <a:off x="-1" y="-1"/>
            <a:ext cx="12188952" cy="6858000"/>
          </a:xfrm>
          <a:prstGeom prst="rect">
            <a:avLst/>
          </a:prstGeom>
        </p:spPr>
      </p:pic>
      <p:sp>
        <p:nvSpPr>
          <p:cNvPr id="19" name="Rectangle 18">
            <a:extLst>
              <a:ext uri="{FF2B5EF4-FFF2-40B4-BE49-F238E27FC236}">
                <a16:creationId xmlns:a16="http://schemas.microsoft.com/office/drawing/2014/main" id="{0A324144-E9CF-4B12-A53E-FAC0D281D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gradFill flip="none" rotWithShape="1">
            <a:gsLst>
              <a:gs pos="45000">
                <a:schemeClr val="tx1">
                  <a:alpha val="40000"/>
                </a:schemeClr>
              </a:gs>
              <a:gs pos="100000">
                <a:schemeClr val="tx1">
                  <a:alpha val="8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03C66E-294E-5046-8A8B-0E3117F0AC12}"/>
              </a:ext>
            </a:extLst>
          </p:cNvPr>
          <p:cNvSpPr>
            <a:spLocks noGrp="1"/>
          </p:cNvSpPr>
          <p:nvPr>
            <p:ph type="title"/>
          </p:nvPr>
        </p:nvSpPr>
        <p:spPr>
          <a:xfrm>
            <a:off x="641604" y="4553712"/>
            <a:ext cx="10908792" cy="1069848"/>
          </a:xfrm>
        </p:spPr>
        <p:txBody>
          <a:bodyPr vert="horz" lIns="91440" tIns="45720" rIns="91440" bIns="45720" rtlCol="0" anchor="ctr">
            <a:normAutofit/>
          </a:bodyPr>
          <a:lstStyle/>
          <a:p>
            <a:pPr algn="ctr"/>
            <a:r>
              <a:rPr lang="en-US" sz="6000" dirty="0">
                <a:solidFill>
                  <a:srgbClr val="00B0F0"/>
                </a:solidFill>
              </a:rPr>
              <a:t>THANK YOU</a:t>
            </a:r>
          </a:p>
        </p:txBody>
      </p:sp>
    </p:spTree>
    <p:extLst>
      <p:ext uri="{BB962C8B-B14F-4D97-AF65-F5344CB8AC3E}">
        <p14:creationId xmlns:p14="http://schemas.microsoft.com/office/powerpoint/2010/main" val="627997637"/>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SketchyVTI</vt:lpstr>
      <vt:lpstr>BRİGHT STAR RETAİL</vt:lpstr>
      <vt:lpstr>Introduction to Microsoft power bi</vt:lpstr>
      <vt:lpstr>Cvs. Excel files</vt:lpstr>
      <vt:lpstr>The information we see in the picture on this slide is about the vests that our customers bought in May</vt:lpstr>
      <vt:lpstr>On this slide, we have data on bike sales in  April</vt:lpstr>
      <vt:lpstr>In the clothing category  in June 2023, we examine the shorts sold by our  company</vt:lpstr>
      <vt:lpstr>Let's examine the sales figures of the mountain bike 200, silver color 38</vt:lpstr>
      <vt:lpstr>In this slide, we will examine water bottle sales for February  2023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379</cp:revision>
  <dcterms:created xsi:type="dcterms:W3CDTF">2024-05-19T20:37:22Z</dcterms:created>
  <dcterms:modified xsi:type="dcterms:W3CDTF">2024-05-26T15:11:13Z</dcterms:modified>
</cp:coreProperties>
</file>